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79" y="-1097280"/>
            <a:ext cx="5943600" cy="5943600"/>
          </a:xfrm>
          <a:prstGeom prst="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4389120"/>
            <a:ext cx="4572000" cy="4572000"/>
          </a:xfrm>
          <a:prstGeom prst="rect">
            <a:avLst/>
          </a:prstGeom>
          <a:solidFill>
            <a:srgbClr val="1E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051560"/>
            <a:ext cx="1828800" cy="38404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88136"/>
            <a:ext cx="182880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020"/>
                </a:solidFill>
                <a:latin typeface="Segoe UI"/>
              </a:rPr>
              <a:t>AWS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424160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EAEFF7"/>
                </a:solidFill>
                <a:latin typeface="Segoe UI"/>
              </a:rPr>
              <a:t>Kiro 🤖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8B5CF6"/>
                </a:solidFill>
                <a:latin typeface="Segoe UI"/>
              </a:rPr>
              <a:t>erst denken, dann coden.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77639"/>
            <a:ext cx="877824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EAEFF7"/>
                </a:solidFill>
                <a:latin typeface="Segoe UI"/>
              </a:rPr>
              <a:t>Spec-Driven Development mit einer Agentic IDE — </a:t>
            </a:r>
            <a:r>
              <a:rPr sz="1900" b="0" i="0">
                <a:solidFill>
                  <a:srgbClr val="9CA8C4"/>
                </a:solidFill>
                <a:latin typeface="Segoe UI"/>
              </a:rPr>
              <a:t>aus einem Satz wird ein Plan, aus dem Plan wird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5074920"/>
            <a:ext cx="2468880" cy="38404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5111496"/>
            <a:ext cx="246888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020"/>
                </a:solidFill>
                <a:latin typeface="Segoe UI"/>
              </a:rPr>
              <a:t>requirements.md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5074920"/>
            <a:ext cx="2194560" cy="384048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5111496"/>
            <a:ext cx="219456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020"/>
                </a:solidFill>
                <a:latin typeface="Segoe UI"/>
              </a:rPr>
              <a:t>design.md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7296" y="5074920"/>
            <a:ext cx="2011680" cy="384048"/>
          </a:xfrm>
          <a:prstGeom prst="round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7296" y="5111496"/>
            <a:ext cx="201168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B1020"/>
                </a:solidFill>
                <a:latin typeface="Segoe UI"/>
              </a:rPr>
              <a:t>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6070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CA8C4"/>
                </a:solidFill>
                <a:latin typeface="Segoe UI"/>
              </a:rPr>
              <a:t>Eine Einführung für Jugendliche  ·  </a:t>
            </a:r>
            <a:r>
              <a:rPr sz="1300" b="0" i="0">
                <a:solidFill>
                  <a:srgbClr val="9CA8C4"/>
                </a:solidFill>
                <a:latin typeface="Segoe UI"/>
              </a:rPr>
              <a:t>github.com/ANcpLua/Optional-Home-Exercise-Tools-Corner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87171"/>
                </a:solidFill>
                <a:latin typeface="Segoe UI"/>
              </a:rPr>
              <a:t>DAS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Vibe Coding — cool, aber planlos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6400800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EAEFF7"/>
                </a:solidFill>
                <a:latin typeface="Segoe UI"/>
              </a:rPr>
              <a:t>Viele KI-Tools machen heute </a:t>
            </a:r>
            <a:r>
              <a:rPr sz="1600" b="1" i="0">
                <a:solidFill>
                  <a:srgbClr val="F87171"/>
                </a:solidFill>
                <a:latin typeface="Segoe UI"/>
              </a:rPr>
              <a:t>Vibe Coding: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„Mach mir was Cooles" → die KI tippt 200 Zeilen → sieht gut aus …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EAEFF7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EAEFF7"/>
                </a:solidFill>
                <a:latin typeface="Segoe UI"/>
              </a:rPr>
              <a:t>… aber niemand weiß genau, </a:t>
            </a:r>
            <a:r>
              <a:rPr sz="1600" b="1" i="0">
                <a:solidFill>
                  <a:srgbClr val="FBBF24"/>
                </a:solidFill>
                <a:latin typeface="Segoe UI"/>
              </a:rPr>
              <a:t>was</a:t>
            </a:r>
            <a:r>
              <a:rPr sz="1600" b="0" i="0">
                <a:solidFill>
                  <a:srgbClr val="EAEFF7"/>
                </a:solidFill>
                <a:latin typeface="Segoe UI"/>
              </a:rPr>
              <a:t> das Programm können soll.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Bei der ersten Änderung bricht alles zusammen — es gibt </a:t>
            </a:r>
            <a:r>
              <a:rPr sz="1500" b="1" i="0">
                <a:solidFill>
                  <a:srgbClr val="F87171"/>
                </a:solidFill>
                <a:latin typeface="Segoe UI"/>
              </a:rPr>
              <a:t>keinen Plan.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828800"/>
            <a:ext cx="4160520" cy="310896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1828800"/>
            <a:ext cx="109728" cy="310896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2103120"/>
            <a:ext cx="361188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87171"/>
                </a:solidFill>
                <a:latin typeface="Segoe UI"/>
              </a:rPr>
              <a:t>🔑 Merksatz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0" i="0">
                <a:solidFill>
                  <a:srgbClr val="EAEFF7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Vibe Coding = plausibel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aussehender Code, der zu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keiner Anforderung passt.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0" i="0">
                <a:solidFill>
                  <a:srgbClr val="EAEFF7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9CA8C4"/>
                </a:solidFill>
                <a:latin typeface="Segoe UI"/>
              </a:rPr>
              <a:t>Klingt schlau — ist aber Raten.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8B5CF6"/>
                </a:solidFill>
                <a:latin typeface="Segoe UI"/>
              </a:rPr>
              <a:t>DIE IDEE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Spec-Driven Development: erst der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27632"/>
            <a:ext cx="1088136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Kiro dreht die Reihenfolge um. Bevor </a:t>
            </a:r>
            <a:r>
              <a:rPr sz="1500" b="1" i="0">
                <a:solidFill>
                  <a:srgbClr val="FBBF24"/>
                </a:solidFill>
                <a:latin typeface="Segoe UI"/>
              </a:rPr>
              <a:t>eine einzige Zeile</a:t>
            </a:r>
            <a:r>
              <a:rPr sz="1500" b="0" i="0">
                <a:solidFill>
                  <a:srgbClr val="EAEFF7"/>
                </a:solidFill>
                <a:latin typeface="Segoe UI"/>
              </a:rPr>
              <a:t> Code entsteht, schreibt Kiro drei Dateien — </a:t>
            </a:r>
            <a:r>
              <a:rPr sz="1500" b="1" i="0">
                <a:solidFill>
                  <a:srgbClr val="8B5CF6"/>
                </a:solidFill>
                <a:latin typeface="Segoe UI"/>
              </a:rPr>
              <a:t>„the Spec".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3566160" cy="278892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77440"/>
            <a:ext cx="3566160" cy="10972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670048"/>
            <a:ext cx="3108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D4BF"/>
                </a:solidFill>
                <a:latin typeface="Consolas"/>
              </a:rPr>
              <a:t>1  requirements.md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310128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AEFF7"/>
                </a:solidFill>
                <a:latin typeface="Segoe UI"/>
              </a:rPr>
              <a:t>Was soll es können?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822191"/>
            <a:ext cx="310896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User Stories + EARS-Notation. Die Anforderungen — testbar &amp; eindeutig.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2377440"/>
            <a:ext cx="3566160" cy="278892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2377440"/>
            <a:ext cx="3566160" cy="10972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2670048"/>
            <a:ext cx="3108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0A5FA"/>
                </a:solidFill>
                <a:latin typeface="Consolas"/>
              </a:rPr>
              <a:t>2  design.md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3310128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AEFF7"/>
                </a:solidFill>
                <a:latin typeface="Segoe UI"/>
              </a:rPr>
              <a:t>Wie wird es gebaut?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3822191"/>
            <a:ext cx="310896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Architektur, Komponenten- und Sequenz-Diagramme. Der Bauplan.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93024" y="2377440"/>
            <a:ext cx="3566160" cy="278892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3024" y="2377440"/>
            <a:ext cx="3566160" cy="10972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2670048"/>
            <a:ext cx="3108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818CF8"/>
                </a:solidFill>
                <a:latin typeface="Consolas"/>
              </a:rPr>
              <a:t>3  tasks.md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6" y="3310128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AEFF7"/>
                </a:solidFill>
                <a:latin typeface="Segoe UI"/>
              </a:rPr>
              <a:t>Welche Schritte?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3822191"/>
            <a:ext cx="310896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Konkrete To-do-Liste mit Reihenfolge &amp; Abhängigkeiten.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4D399"/>
                </a:solidFill>
                <a:latin typeface="Segoe UI"/>
              </a:rPr>
              <a:t>✅ Du (der Mensch) gibst den Plan frei → dann programmiert Kiro. </a:t>
            </a:r>
            <a:r>
              <a:rPr sz="1400" b="0" i="0">
                <a:solidFill>
                  <a:srgbClr val="EAEFF7"/>
                </a:solidFill>
                <a:latin typeface="Segoe UI"/>
              </a:rPr>
              <a:t>Jede Code-Zeile lässt sich zur Anforderung zurückverfolgen (Traceability).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DD4BF"/>
                </a:solidFill>
                <a:latin typeface="Segoe UI"/>
              </a:rPr>
              <a:t>DAS HERZSTÜCK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EARS — Anforderungen, die man testen kann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Anforderungen schreibt Kiro in einem festen Muster — </a:t>
            </a:r>
            <a:r>
              <a:rPr sz="1500" b="1" i="0">
                <a:solidFill>
                  <a:srgbClr val="2DD4BF"/>
                </a:solidFill>
                <a:latin typeface="Segoe UI"/>
              </a:rPr>
              <a:t>EARS</a:t>
            </a:r>
            <a:r>
              <a:rPr sz="1500" b="0" i="0">
                <a:solidFill>
                  <a:srgbClr val="EAEFF7"/>
                </a:solidFill>
                <a:latin typeface="Segoe UI"/>
              </a:rPr>
              <a:t>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6126480" cy="137160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557784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DD4BF"/>
                </a:solidFill>
                <a:latin typeface="Consolas"/>
              </a:rPr>
              <a:t>WHEN </a:t>
            </a:r>
            <a:r>
              <a:rPr sz="1900" b="0" i="0">
                <a:solidFill>
                  <a:srgbClr val="EAEFF7"/>
                </a:solidFill>
                <a:latin typeface="Consolas"/>
              </a:rPr>
              <a:t>[wenn das passiert]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BBF24"/>
                </a:solidFill>
                <a:latin typeface="Consolas"/>
              </a:rPr>
              <a:t>THE SYSTEM SHALL </a:t>
            </a:r>
            <a:r>
              <a:rPr sz="1900" b="0" i="0">
                <a:solidFill>
                  <a:srgbClr val="EAEFF7"/>
                </a:solidFill>
                <a:latin typeface="Consolas"/>
              </a:rPr>
              <a:t>[dann tut das System das]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2286000"/>
            <a:ext cx="4480560" cy="1371600"/>
          </a:xfrm>
          <a:prstGeom prst="roundRect">
            <a:avLst/>
          </a:prstGeom>
          <a:solidFill>
            <a:srgbClr val="1E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2468880"/>
            <a:ext cx="4069080" cy="1051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DD4BF"/>
                </a:solidFill>
                <a:latin typeface="Segoe UI"/>
              </a:rPr>
              <a:t>Beispiel (Schach):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AEFF7"/>
                </a:solidFill>
                <a:latin typeface="Consolas"/>
              </a:rPr>
              <a:t>WENN jemand einen verbotenen Zug macht,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AEFF7"/>
                </a:solidFill>
                <a:latin typeface="Consolas"/>
              </a:rPr>
              <a:t>SOLL DAS SYSTEM den Grund anzeigen.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77639"/>
            <a:ext cx="3566160" cy="141732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20624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🎯 Eindeutig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36592"/>
            <a:ext cx="3108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kein „hab ich anders gemeint"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16552" y="3977639"/>
            <a:ext cx="3566160" cy="141732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420624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🧪 Testbar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4736592"/>
            <a:ext cx="3108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jede Regel wird zu einem 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93024" y="3977639"/>
            <a:ext cx="3566160" cy="141732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420624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🔗 Verfolgbar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4736592"/>
            <a:ext cx="3108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Code ↔ Anforderung ↔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60A5FA"/>
                </a:solidFill>
                <a:latin typeface="Segoe UI"/>
              </a:rPr>
              <a:t>DER ABLAUF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Vom Satz zum fertigen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86000"/>
            <a:ext cx="2084831" cy="219456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86000"/>
            <a:ext cx="2084831" cy="10972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542032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8B5CF6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75887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„Bau ein Schach-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68496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Spiel mit FIDE-Regeln"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6896" y="3154680"/>
            <a:ext cx="3657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2286000"/>
            <a:ext cx="2084831" cy="219456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34640" y="2286000"/>
            <a:ext cx="2084831" cy="10972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2542032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D4BF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154680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675887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Kiro schreibt die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968496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3 Dateien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3154680"/>
            <a:ext cx="3657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D4BF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02352" y="2286000"/>
            <a:ext cx="2084831" cy="219456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02352" y="2286000"/>
            <a:ext cx="2084831" cy="10972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02352" y="2542032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60A5FA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3154680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3675887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Mensch prüft &amp;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93792" y="3968496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gibt frei (#spec)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154680"/>
            <a:ext cx="3657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60A5FA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70064" y="2286000"/>
            <a:ext cx="2084831" cy="219456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70064" y="2286000"/>
            <a:ext cx="2084831" cy="10972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0064" y="2542032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818CF8"/>
                </a:solidFill>
                <a:latin typeface="Segoe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0064" y="3154680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IMPLEMENT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61504" y="3675887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Code — auch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1504" y="3968496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parallel (Subagents)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0032" y="3154680"/>
            <a:ext cx="3657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18CF8"/>
                </a:solidFill>
                <a:latin typeface="Segoe U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37776" y="2286000"/>
            <a:ext cx="2084831" cy="219456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37776" y="2286000"/>
            <a:ext cx="2084831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2542032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34D399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37776" y="3154680"/>
            <a:ext cx="2084831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VALIDATE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9216" y="3675887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Tests grün,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29216" y="3968496"/>
            <a:ext cx="190195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9CA8C4"/>
                </a:solidFill>
                <a:latin typeface="Segoe UI"/>
              </a:rPr>
              <a:t>Property-Tests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983480"/>
            <a:ext cx="108813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Segoe UI"/>
              </a:rPr>
              <a:t>⚡ Ergebnis: </a:t>
            </a:r>
            <a:r>
              <a:rPr sz="1500" b="0" i="0">
                <a:solidFill>
                  <a:srgbClr val="EAEFF7"/>
                </a:solidFill>
                <a:latin typeface="Segoe UI"/>
              </a:rPr>
              <a:t>Aus einer Idee wird ein nachvollziehbares, getestetes System — statt Code-Chaos.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818CF8"/>
                </a:solidFill>
                <a:latin typeface="Segoe UI"/>
              </a:rPr>
              <a:t>DIE SUPERKRÄFTE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Was Kiro besonders macht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355848" cy="205740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91440" cy="20574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AEFF7"/>
                </a:solidFill>
                <a:latin typeface="Segoe UI"/>
              </a:rPr>
              <a:t>🪝 Agent 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532888"/>
            <a:ext cx="29718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CA8C4"/>
                </a:solidFill>
                <a:latin typeface="Segoe UI"/>
              </a:rPr>
              <a:t>„Immer wenn ich speichere, aktualisiere die Docs." Du beschreibst es, Kiro baut den Hook.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783080"/>
            <a:ext cx="3355848" cy="205740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2" y="1783080"/>
            <a:ext cx="91440" cy="20574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4" y="1984248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AEFF7"/>
                </a:solidFill>
                <a:latin typeface="Segoe UI"/>
              </a:rPr>
              <a:t>🧭 Steering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2532888"/>
            <a:ext cx="29718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CA8C4"/>
                </a:solidFill>
                <a:latin typeface="Segoe UI"/>
              </a:rPr>
              <a:t>Kiros Hausregeln: Stil &amp; Namens-Konventionen in .kiro/steering/ — alles bleibt einheitlich.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783080"/>
            <a:ext cx="3355848" cy="205740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4" y="1783080"/>
            <a:ext cx="91440" cy="20574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1984248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AEFF7"/>
                </a:solidFill>
                <a:latin typeface="Segoe UI"/>
              </a:rPr>
              <a:t>🖼️ Multimodal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2532888"/>
            <a:ext cx="29718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CA8C4"/>
                </a:solidFill>
                <a:latin typeface="Segoe UI"/>
              </a:rPr>
              <a:t>Foto einer Whiteboard-Skizze hochladen → Kiro macht Architektur &amp; Code daraus.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23360"/>
            <a:ext cx="3355848" cy="205740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023360"/>
            <a:ext cx="91440" cy="2057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224528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AEFF7"/>
                </a:solidFill>
                <a:latin typeface="Segoe UI"/>
              </a:rPr>
              <a:t>🧩 MCP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773168"/>
            <a:ext cx="29718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CA8C4"/>
                </a:solidFill>
                <a:latin typeface="Segoe UI"/>
              </a:rPr>
              <a:t>Verbindet externe Tools: GitHub, Docs, eigene CLI-Tools — über das Model Context Protocol.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355848" cy="205740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6552" y="4023360"/>
            <a:ext cx="91440" cy="20574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72584" y="4224528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AEFF7"/>
                </a:solidFill>
                <a:latin typeface="Segoe UI"/>
              </a:rPr>
              <a:t>👥 Subagents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72584" y="4773168"/>
            <a:ext cx="29718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CA8C4"/>
                </a:solidFill>
                <a:latin typeface="Segoe UI"/>
              </a:rPr>
              <a:t>Mehrere Aufgaben gleichzeitig: spezialisierte Agenten arbeiten parallel, jeder mit eigenem Kontext.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024" y="4023360"/>
            <a:ext cx="3355848" cy="205740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93024" y="4023360"/>
            <a:ext cx="91440" cy="2057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49056" y="4224528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AEFF7"/>
                </a:solidFill>
                <a:latin typeface="Segoe UI"/>
              </a:rPr>
              <a:t>🔐 Permissions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49056" y="4773168"/>
            <a:ext cx="297180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CA8C4"/>
                </a:solidFill>
                <a:latin typeface="Segoe UI"/>
              </a:rPr>
              <a:t>IDE 1.0 (Juni 2026): du bestimmst genau, was die KI tun darf — Agent-Focus &amp; Custom Agents.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BBF24"/>
                </a:solidFill>
                <a:latin typeface="Segoe UI"/>
              </a:rPr>
              <a:t>WICHTIG FÜRS PRÄSENTIEREN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Was 2026 neu 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837943"/>
            <a:ext cx="201168" cy="20116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783080"/>
            <a:ext cx="2103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8B5CF6"/>
                </a:solidFill>
                <a:latin typeface="Segoe UI"/>
              </a:rPr>
              <a:t>Jul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783080"/>
            <a:ext cx="7955279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EAEFF7"/>
                </a:solidFill>
                <a:latin typeface="Segoe UI"/>
              </a:rPr>
              <a:t>Public Preview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" y="2093976"/>
            <a:ext cx="36576" cy="420624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587752"/>
            <a:ext cx="201168" cy="201168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532888"/>
            <a:ext cx="2103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34D399"/>
                </a:solidFill>
                <a:latin typeface="Segoe UI"/>
              </a:rPr>
              <a:t>17. Nov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32888"/>
            <a:ext cx="7955279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EAEFF7"/>
                </a:solidFill>
                <a:latin typeface="Segoe UI"/>
              </a:rPr>
              <a:t>Generally Available (GA) — kein Beta mehr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" y="2843784"/>
            <a:ext cx="36576" cy="420624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3337560"/>
            <a:ext cx="201168" cy="201168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3282696"/>
            <a:ext cx="2103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60A5FA"/>
                </a:solidFill>
                <a:latin typeface="Segoe UI"/>
              </a:rPr>
              <a:t>Feb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3282696"/>
            <a:ext cx="7955279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EAEFF7"/>
                </a:solidFill>
                <a:latin typeface="Segoe UI"/>
              </a:rPr>
              <a:t>Subagents, Skills &amp; Hooks · Okta / Microsoft Entra ID SSO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" y="3593591"/>
            <a:ext cx="36576" cy="420624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" y="4087368"/>
            <a:ext cx="201168" cy="20116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032504"/>
            <a:ext cx="2103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2DD4BF"/>
                </a:solidFill>
                <a:latin typeface="Segoe UI"/>
              </a:rPr>
              <a:t>Mai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032504"/>
            <a:ext cx="7955279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EAEFF7"/>
                </a:solidFill>
                <a:latin typeface="Segoe UI"/>
              </a:rPr>
              <a:t>Concurrent Spec-Tasks · Quick-Plan-Workflow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" y="4343400"/>
            <a:ext cx="36576" cy="420624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4837176"/>
            <a:ext cx="201168" cy="20116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4440" y="4782312"/>
            <a:ext cx="2103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BBF24"/>
                </a:solidFill>
                <a:latin typeface="Segoe UI"/>
              </a:rPr>
              <a:t>25. Jun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4782312"/>
            <a:ext cx="7955279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EAEFF7"/>
                </a:solidFill>
                <a:latin typeface="Segoe UI"/>
              </a:rPr>
              <a:t>IDE 1.0 — Agent Focus, Permissions, Custom Agents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650992"/>
            <a:ext cx="10881360" cy="64008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779008"/>
            <a:ext cx="103327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BBF24"/>
                </a:solidFill>
                <a:latin typeface="Segoe UI"/>
              </a:rPr>
              <a:t>Neu außerdem: </a:t>
            </a:r>
            <a:r>
              <a:rPr sz="1350" b="0" i="0">
                <a:solidFill>
                  <a:srgbClr val="EAEFF7"/>
                </a:solidFill>
                <a:latin typeface="Segoe UI"/>
              </a:rPr>
              <a:t>Kiro CLI (Terminal) · Kiro Web (app.kiro.dev) · Web-Suche im Chat · „Auto"-Modell-Agent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4D399"/>
                </a:solidFill>
                <a:latin typeface="Segoe UI"/>
              </a:rPr>
              <a:t>PREISE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Was kostet das? (Stand Juni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Kiro rechnet mit </a:t>
            </a:r>
            <a:r>
              <a:rPr sz="1500" b="1" i="0">
                <a:solidFill>
                  <a:srgbClr val="34D399"/>
                </a:solidFill>
                <a:latin typeface="Segoe UI"/>
              </a:rPr>
              <a:t>Credits</a:t>
            </a:r>
            <a:r>
              <a:rPr sz="1500" b="0" i="0">
                <a:solidFill>
                  <a:srgbClr val="EAEFF7"/>
                </a:solidFill>
                <a:latin typeface="Segoe UI"/>
              </a:rPr>
              <a:t> — 1 Credit = ein Stück Arbeit; einfache Prompts kosten weniger als 1 Credit.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10881360" cy="457200"/>
          </a:xfrm>
          <a:prstGeom prst="roundRect">
            <a:avLst/>
          </a:prstGeom>
          <a:solidFill>
            <a:srgbClr val="1E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286000"/>
            <a:ext cx="365760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9CA8C4"/>
                </a:solidFill>
                <a:latin typeface="Segoe UI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265176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9CA8C4"/>
                </a:solidFill>
                <a:latin typeface="Segoe UI"/>
              </a:rPr>
              <a:t>Preis / Monat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286000"/>
            <a:ext cx="365760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9CA8C4"/>
                </a:solidFill>
                <a:latin typeface="Segoe UI"/>
              </a:rPr>
              <a:t>Credits / Monat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61488"/>
            <a:ext cx="10881360" cy="512064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91440" cy="51206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761488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34D399"/>
                </a:solidFill>
                <a:latin typeface="Segoe UI"/>
              </a:rPr>
              <a:t>Free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761488"/>
            <a:ext cx="246888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0 $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761488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37560"/>
            <a:ext cx="10881360" cy="512064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337560"/>
            <a:ext cx="91440" cy="512064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337560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60A5FA"/>
                </a:solidFill>
                <a:latin typeface="Segoe UI"/>
              </a:rPr>
              <a:t>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337560"/>
            <a:ext cx="246888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20 $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337560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1.000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913632"/>
            <a:ext cx="10881360" cy="512064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913632"/>
            <a:ext cx="91440" cy="512064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13632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818CF8"/>
                </a:solidFill>
                <a:latin typeface="Segoe UI"/>
              </a:rPr>
              <a:t>Pro+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913632"/>
            <a:ext cx="246888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40 $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913632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2.000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89704"/>
            <a:ext cx="10881360" cy="512064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489704"/>
            <a:ext cx="91440" cy="5120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489704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8B5CF6"/>
                </a:solidFill>
                <a:latin typeface="Segoe UI"/>
              </a:rPr>
              <a:t>Pro Max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489704"/>
            <a:ext cx="246888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100 $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89704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5.000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065776"/>
            <a:ext cx="10881360" cy="512064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5065776"/>
            <a:ext cx="91440" cy="51206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065776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BBF24"/>
                </a:solidFill>
                <a:latin typeface="Segoe UI"/>
              </a:rPr>
              <a:t>Power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5065776"/>
            <a:ext cx="246888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200 $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5065776"/>
            <a:ext cx="3474720" cy="5120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7"/>
                </a:solidFill>
                <a:latin typeface="Segoe UI"/>
              </a:rPr>
              <a:t>10.000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797296"/>
            <a:ext cx="108813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4D399"/>
                </a:solidFill>
                <a:latin typeface="Segoe UI"/>
              </a:rPr>
              <a:t>👉 Zum Ausprobieren reicht </a:t>
            </a:r>
            <a:r>
              <a:rPr sz="1250" b="1" i="0">
                <a:solidFill>
                  <a:srgbClr val="34D399"/>
                </a:solidFill>
                <a:latin typeface="Segoe UI"/>
              </a:rPr>
              <a:t>Free</a:t>
            </a:r>
            <a:r>
              <a:rPr sz="1250" b="0" i="0">
                <a:solidFill>
                  <a:srgbClr val="9CA8C4"/>
                </a:solidFill>
                <a:latin typeface="Segoe UI"/>
              </a:rPr>
              <a:t> (Social-Login / AWS Builder ID — kein Kreditkarten-Konto nötig). Overage: $0,04 / Credit.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BBF24"/>
                </a:solidFill>
                <a:latin typeface="Segoe UI"/>
              </a:rPr>
              <a:t>😬 Story: Der Preis-Start 2025 ging schief (Bug zog zu viele Credits ab) → AWS entschuldigte sich, erstattete zurück &amp; baute das Modell neu.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DD4BF"/>
                </a:solidFill>
                <a:latin typeface="Segoe UI"/>
              </a:rPr>
              <a:t>SELBST AUSPROBIEREN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In 5 Schritten loslegen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841248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41248" cy="84124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83080"/>
            <a:ext cx="841248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1020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92807"/>
            <a:ext cx="274320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Download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783080"/>
            <a:ext cx="704088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CA8C4"/>
                </a:solidFill>
                <a:latin typeface="Segoe UI"/>
              </a:rPr>
              <a:t>kiro.dev — ein VS-Code-Fork, sieht vertraut aus.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15768"/>
            <a:ext cx="10881360" cy="841248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715768"/>
            <a:ext cx="841248" cy="841248"/>
          </a:xfrm>
          <a:prstGeom prst="round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15768"/>
            <a:ext cx="841248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1020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825496"/>
            <a:ext cx="274320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Anmelden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715768"/>
            <a:ext cx="704088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CA8C4"/>
                </a:solidFill>
                <a:latin typeface="Segoe UI"/>
              </a:rPr>
              <a:t>Free-Plan via Social-Login. Kein Amazon-Konto nötig.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648456"/>
            <a:ext cx="10881360" cy="841248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648456"/>
            <a:ext cx="841248" cy="841248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48456"/>
            <a:ext cx="841248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1020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758183"/>
            <a:ext cx="274320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Spec-Modus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648456"/>
            <a:ext cx="704088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CA8C4"/>
                </a:solidFill>
                <a:latin typeface="Segoe UI"/>
              </a:rPr>
              <a:t>Wunsch eintippen: „Build a to-do app with a checkbox per item."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581144"/>
            <a:ext cx="10881360" cy="841248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581144"/>
            <a:ext cx="841248" cy="841248"/>
          </a:xfrm>
          <a:prstGeom prst="round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581144"/>
            <a:ext cx="841248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1020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4690872"/>
            <a:ext cx="274320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Plan prüfen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581144"/>
            <a:ext cx="704088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CA8C4"/>
                </a:solidFill>
                <a:latin typeface="Segoe UI"/>
              </a:rPr>
              <a:t>requirements.md · design.md · tasks.md anschauen &amp; freigeben.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13831"/>
            <a:ext cx="10881360" cy="841248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513831"/>
            <a:ext cx="841248" cy="841248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513831"/>
            <a:ext cx="841248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0B1020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623559"/>
            <a:ext cx="274320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AEFF7"/>
                </a:solidFill>
                <a:latin typeface="Segoe UI"/>
              </a:rPr>
              <a:t>Implementieren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13831"/>
            <a:ext cx="704088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CA8C4"/>
                </a:solidFill>
                <a:latin typeface="Segoe UI"/>
              </a:rPr>
              <a:t>Kiro coden lassen — und zusehen, wie alles zur Spec passt.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789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472B6"/>
                </a:solidFill>
                <a:latin typeface="Segoe UI"/>
              </a:rPr>
              <a:t>VERGLEICH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EAEFF7"/>
                </a:solidFill>
                <a:latin typeface="Segoe UI"/>
              </a:rPr>
              <a:t>Kiro vs. „normale" KI-Tools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1371600" cy="4114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868680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AWS Kiro · Spec-Driven Development · Stand Juni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55664"/>
            <a:ext cx="2240280" cy="31089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9CA8C4"/>
                </a:solidFill>
                <a:latin typeface="Segoe UI"/>
              </a:rPr>
              <a:t>kiro.dev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783080"/>
            <a:ext cx="3246120" cy="4206240"/>
          </a:xfrm>
          <a:prstGeom prst="roundRect">
            <a:avLst/>
          </a:prstGeom>
          <a:solidFill>
            <a:srgbClr val="1E2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3429000" cy="420624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840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AEFF7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938528"/>
            <a:ext cx="32461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87171"/>
                </a:solidFill>
                <a:latin typeface="Segoe UI"/>
              </a:rPr>
              <a:t>Vibe Coding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938528"/>
            <a:ext cx="34290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34D399"/>
                </a:solidFill>
                <a:latin typeface="Segoe UI"/>
              </a:rPr>
              <a:t>Kiro (Spec-Driven)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97480"/>
            <a:ext cx="36576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Reihenfolge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697480"/>
            <a:ext cx="32461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Sofort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697480"/>
            <a:ext cx="34290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EAEFF7"/>
                </a:solidFill>
                <a:latin typeface="Segoe UI"/>
              </a:rPr>
              <a:t>Erst Plan, dann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264408"/>
            <a:ext cx="10515600" cy="10972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483864"/>
            <a:ext cx="36576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Nachvollziehbar?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483864"/>
            <a:ext cx="32461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Oft nicht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483864"/>
            <a:ext cx="34290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EAEFF7"/>
                </a:solidFill>
                <a:latin typeface="Segoe UI"/>
              </a:rPr>
              <a:t>Ja — Zeile → Anforderung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050791"/>
            <a:ext cx="10515600" cy="10972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70248"/>
            <a:ext cx="36576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Bei Änderungen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270248"/>
            <a:ext cx="32461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Bricht schnell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270248"/>
            <a:ext cx="34290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EAEFF7"/>
                </a:solidFill>
                <a:latin typeface="Segoe UI"/>
              </a:rPr>
              <a:t>Plan passt sich mit 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837176"/>
            <a:ext cx="10515600" cy="10972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56632"/>
            <a:ext cx="36576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EAEFF7"/>
                </a:solidFill>
                <a:latin typeface="Segoe UI"/>
              </a:rPr>
              <a:t>Gut für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056632"/>
            <a:ext cx="32461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9CA8C4"/>
                </a:solidFill>
                <a:latin typeface="Segoe UI"/>
              </a:rPr>
              <a:t>Schnelle Experimente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5056632"/>
            <a:ext cx="342900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EAEFF7"/>
                </a:solidFill>
                <a:latin typeface="Segoe UI"/>
              </a:rPr>
              <a:t>Echte, wartbare Projekte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60704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EAEFF7"/>
                </a:solidFill>
                <a:latin typeface="Segoe UI"/>
              </a:rPr>
              <a:t>Das Take-away 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06040"/>
            <a:ext cx="10561320" cy="1737360"/>
          </a:xfrm>
          <a:prstGeom prst="roundRect">
            <a:avLst/>
          </a:prstGeom>
          <a:solidFill>
            <a:srgbClr val="16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606040"/>
            <a:ext cx="128016" cy="17373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880360"/>
            <a:ext cx="1005840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FBBF24"/>
                </a:solidFill>
                <a:latin typeface="Segoe UI"/>
              </a:rPr>
              <a:t>Kiro = „erst denken, dann coden".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EAEFF7"/>
                </a:solidFill>
                <a:latin typeface="Segoe UI"/>
              </a:rPr>
              <a:t>Aus einem Satz wird ein </a:t>
            </a:r>
            <a:r>
              <a:rPr sz="1700" b="1" i="0">
                <a:solidFill>
                  <a:srgbClr val="2DD4BF"/>
                </a:solidFill>
                <a:latin typeface="Segoe UI"/>
              </a:rPr>
              <a:t>Plan (Spec)</a:t>
            </a:r>
            <a:r>
              <a:rPr sz="1700" b="0" i="0">
                <a:solidFill>
                  <a:srgbClr val="EAEFF7"/>
                </a:solidFill>
                <a:latin typeface="Segoe UI"/>
              </a:rPr>
              <a:t>, aus dem Plan wird </a:t>
            </a:r>
            <a:r>
              <a:rPr sz="1700" b="1" i="0">
                <a:solidFill>
                  <a:srgbClr val="34D399"/>
                </a:solidFill>
                <a:latin typeface="Segoe UI"/>
              </a:rPr>
              <a:t>nachvollziehbarer Code.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9CA8C4"/>
                </a:solidFill>
                <a:latin typeface="Segoe UI"/>
              </a:rPr>
              <a:t>Das ist der Unterschied zwischen </a:t>
            </a:r>
            <a:r>
              <a:rPr sz="1600" b="1" i="0">
                <a:solidFill>
                  <a:srgbClr val="F87171"/>
                </a:solidFill>
                <a:latin typeface="Segoe UI"/>
              </a:rPr>
              <a:t>Raten</a:t>
            </a:r>
            <a:r>
              <a:rPr sz="1600" b="0" i="0">
                <a:solidFill>
                  <a:srgbClr val="9CA8C4"/>
                </a:solidFill>
                <a:latin typeface="Segoe UI"/>
              </a:rPr>
              <a:t> und </a:t>
            </a:r>
            <a:r>
              <a:rPr sz="1600" b="1" i="0">
                <a:solidFill>
                  <a:srgbClr val="EAEFF7"/>
                </a:solidFill>
                <a:latin typeface="Segoe UI"/>
              </a:rPr>
              <a:t>Engineering.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00600"/>
            <a:ext cx="106070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9CA8C4"/>
                </a:solidFill>
                <a:latin typeface="Segoe UI"/>
              </a:rPr>
              <a:t>Mehr:  </a:t>
            </a:r>
            <a:r>
              <a:rPr sz="1500" b="1" i="0">
                <a:solidFill>
                  <a:srgbClr val="60A5FA"/>
                </a:solidFill>
                <a:latin typeface="Segoe UI"/>
              </a:rPr>
              <a:t>kiro.dev</a:t>
            </a:r>
            <a:r>
              <a:rPr sz="1500" b="0" i="0">
                <a:solidFill>
                  <a:srgbClr val="9CA8C4"/>
                </a:solidFill>
                <a:latin typeface="Segoe UI"/>
              </a:rPr>
              <a:t>   ·   </a:t>
            </a:r>
            <a:r>
              <a:rPr sz="1500" b="1" i="0">
                <a:solidFill>
                  <a:srgbClr val="60A5FA"/>
                </a:solidFill>
                <a:latin typeface="Segoe UI"/>
              </a:rPr>
              <a:t>kiro.dev/docs</a:t>
            </a:r>
            <a:r>
              <a:rPr sz="1500" b="0" i="0">
                <a:solidFill>
                  <a:srgbClr val="9CA8C4"/>
                </a:solidFill>
                <a:latin typeface="Segoe UI"/>
              </a:rPr>
              <a:t>   ·   </a:t>
            </a:r>
            <a:r>
              <a:rPr sz="1500" b="1" i="0">
                <a:solidFill>
                  <a:srgbClr val="60A5FA"/>
                </a:solidFill>
                <a:latin typeface="Segoe UI"/>
              </a:rPr>
              <a:t>kiro.dev/changelog/ide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6070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AEFF7"/>
                </a:solidFill>
                <a:latin typeface="Segoe UI"/>
              </a:rPr>
              <a:t>Danke! Fragen? 🙋  </a:t>
            </a:r>
            <a:r>
              <a:rPr sz="1600" b="0" i="0">
                <a:solidFill>
                  <a:srgbClr val="9CA8C4"/>
                </a:solidFill>
                <a:latin typeface="Segoe UI"/>
              </a:rPr>
              <a:t>— probiert den Free-Plan aus und baut euer erstes Spec.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