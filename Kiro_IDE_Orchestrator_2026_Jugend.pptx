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-1097280"/>
            <a:ext cx="5943600" cy="5943600"/>
          </a:xfrm>
          <a:prstGeom prst="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4389120"/>
            <a:ext cx="4572000" cy="4572000"/>
          </a:xfrm>
          <a:prstGeom prst="rect">
            <a:avLst/>
          </a:prstGeom>
          <a:solidFill>
            <a:srgbClr val="1E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51560"/>
            <a:ext cx="1828800" cy="38404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88136"/>
            <a:ext cx="182880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1020"/>
                </a:solidFill>
                <a:latin typeface="Segoe UI"/>
              </a:rPr>
              <a:t>AWS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42416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EAEFF7"/>
                </a:solidFill>
                <a:latin typeface="Segoe UI"/>
              </a:rPr>
              <a:t>Kiro 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8B5CF6"/>
                </a:solidFill>
                <a:latin typeface="Segoe UI"/>
              </a:rPr>
              <a:t>erst denken, dann coden.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977639"/>
            <a:ext cx="87782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EAEFF7"/>
                </a:solidFill>
                <a:latin typeface="Segoe UI"/>
              </a:rPr>
              <a:t>Spec-Driven Development mit einer Agentic IDE — </a:t>
            </a:r>
            <a:r>
              <a:rPr sz="1900" b="0" i="0">
                <a:solidFill>
                  <a:srgbClr val="9CA8C4"/>
                </a:solidFill>
                <a:latin typeface="Segoe UI"/>
              </a:rPr>
              <a:t>aus einem Satz wird ein Plan, aus dem Plan wird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74920"/>
            <a:ext cx="2468880" cy="38404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111496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1020"/>
                </a:solidFill>
                <a:latin typeface="Segoe UI"/>
              </a:rPr>
              <a:t>requirements.md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5074920"/>
            <a:ext cx="2194560" cy="384048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5111496"/>
            <a:ext cx="219456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1020"/>
                </a:solidFill>
                <a:latin typeface="Segoe UI"/>
              </a:rPr>
              <a:t>design.md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7296" y="5074920"/>
            <a:ext cx="2011680" cy="384048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7296" y="5111496"/>
            <a:ext cx="20116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1020"/>
                </a:solidFill>
                <a:latin typeface="Segoe UI"/>
              </a:rPr>
              <a:t>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10607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CA8C4"/>
                </a:solidFill>
                <a:latin typeface="Segoe UI"/>
              </a:rPr>
              <a:t>Eine Einführung für Jugendliche  ·  </a:t>
            </a:r>
            <a:r>
              <a:rPr sz="1300" b="0" i="0">
                <a:solidFill>
                  <a:srgbClr val="9CA8C4"/>
                </a:solidFill>
                <a:latin typeface="Segoe UI"/>
              </a:rPr>
              <a:t>github.com/ANcpLua/Optional-Home-Exercise-Tools-Corner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Vibe Coding — cool, aber planlos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640080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EAEFF7"/>
                </a:solidFill>
                <a:latin typeface="Segoe UI"/>
              </a:rPr>
              <a:t>Viele KI-Tools machen heute </a:t>
            </a:r>
            <a:r>
              <a:rPr sz="1600" b="1" i="0">
                <a:solidFill>
                  <a:srgbClr val="F87171"/>
                </a:solidFill>
                <a:latin typeface="Segoe UI"/>
              </a:rPr>
              <a:t>Vibe Coding: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„Mach mir was Cooles" → die KI tippt 200 Zeilen → sieht gut aus 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EAEFF7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EAEFF7"/>
                </a:solidFill>
                <a:latin typeface="Segoe UI"/>
              </a:rPr>
              <a:t>… aber niemand weiß genau, </a:t>
            </a:r>
            <a:r>
              <a:rPr sz="1600" b="1" i="0">
                <a:solidFill>
                  <a:srgbClr val="FBBF24"/>
                </a:solidFill>
                <a:latin typeface="Segoe UI"/>
              </a:rPr>
              <a:t>was</a:t>
            </a:r>
            <a:r>
              <a:rPr sz="1600" b="0" i="0">
                <a:solidFill>
                  <a:srgbClr val="EAEFF7"/>
                </a:solidFill>
                <a:latin typeface="Segoe UI"/>
              </a:rPr>
              <a:t> das Programm können soll.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Bei der ersten Änderung bricht alles zusammen — es gibt </a:t>
            </a:r>
            <a:r>
              <a:rPr sz="1500" b="1" i="0">
                <a:solidFill>
                  <a:srgbClr val="F87171"/>
                </a:solidFill>
                <a:latin typeface="Segoe UI"/>
              </a:rPr>
              <a:t>keinen Plan.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828800"/>
            <a:ext cx="4160520" cy="31089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1828800"/>
            <a:ext cx="109728" cy="3108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2103120"/>
            <a:ext cx="361188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87171"/>
                </a:solidFill>
                <a:latin typeface="Segoe UI"/>
              </a:rPr>
              <a:t>🔑 Merksatz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EAEFF7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Vibe Coding = plausibel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aussehender Code, der zu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keiner Anforderung passt.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 i="0">
                <a:solidFill>
                  <a:srgbClr val="EAEFF7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9CA8C4"/>
                </a:solidFill>
                <a:latin typeface="Segoe UI"/>
              </a:rPr>
              <a:t>Klingt schlau — ist aber Raten.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B5CF6"/>
                </a:solidFill>
                <a:latin typeface="Segoe UI"/>
              </a:rPr>
              <a:t>DIE IDEE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Spec-Driven Development: erst der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27632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Kiro dreht die Reihenfolge um. Bevor </a:t>
            </a:r>
            <a:r>
              <a:rPr sz="1500" b="1" i="0">
                <a:solidFill>
                  <a:srgbClr val="FBBF24"/>
                </a:solidFill>
                <a:latin typeface="Segoe UI"/>
              </a:rPr>
              <a:t>eine einzige Zeile</a:t>
            </a:r>
            <a:r>
              <a:rPr sz="1500" b="0" i="0">
                <a:solidFill>
                  <a:srgbClr val="EAEFF7"/>
                </a:solidFill>
                <a:latin typeface="Segoe UI"/>
              </a:rPr>
              <a:t> Code entsteht, schreibt Kiro drei Dateien — </a:t>
            </a:r>
            <a:r>
              <a:rPr sz="1500" b="1" i="0">
                <a:solidFill>
                  <a:srgbClr val="8B5CF6"/>
                </a:solidFill>
                <a:latin typeface="Segoe UI"/>
              </a:rPr>
              <a:t>„the Spec".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77440"/>
            <a:ext cx="3566160" cy="27889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3566160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DD4BF"/>
                </a:solidFill>
                <a:latin typeface="Consolas"/>
              </a:rPr>
              <a:t>1  requirements.md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10128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EFF7"/>
                </a:solidFill>
                <a:latin typeface="Segoe UI"/>
              </a:rPr>
              <a:t>Was soll es können?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22191"/>
            <a:ext cx="310896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User Stories + EARS-Notation. Die Anforderungen — testbar &amp; eindeutig.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377440"/>
            <a:ext cx="3566160" cy="27889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377440"/>
            <a:ext cx="3566160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2670048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60A5FA"/>
                </a:solidFill>
                <a:latin typeface="Consolas"/>
              </a:rPr>
              <a:t>2  design.md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3310128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EFF7"/>
                </a:solidFill>
                <a:latin typeface="Segoe UI"/>
              </a:rPr>
              <a:t>Wie wird es gebaut?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3822191"/>
            <a:ext cx="310896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Architektur, Komponenten- und Sequenz-Diagramme. Der Bauplan.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2377440"/>
            <a:ext cx="3566160" cy="27889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3024" y="2377440"/>
            <a:ext cx="3566160" cy="10972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2670048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18CF8"/>
                </a:solidFill>
                <a:latin typeface="Consolas"/>
              </a:rPr>
              <a:t>3  tasks.md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310128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AEFF7"/>
                </a:solidFill>
                <a:latin typeface="Segoe UI"/>
              </a:rPr>
              <a:t>Welche Schritte?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3822191"/>
            <a:ext cx="310896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Konkrete To-do-Liste mit Reihenfolge &amp; Abhängigkeiten.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4D399"/>
                </a:solidFill>
                <a:latin typeface="Segoe UI"/>
              </a:rPr>
              <a:t>✅ Du (der Mensch) gibst den Plan frei → dann programmiert Kiro. </a:t>
            </a:r>
            <a:r>
              <a:rPr sz="1400" b="0" i="0">
                <a:solidFill>
                  <a:srgbClr val="EAEFF7"/>
                </a:solidFill>
                <a:latin typeface="Segoe UI"/>
              </a:rPr>
              <a:t>Jede Code-Zeile lässt sich zur Anforderung zurückverfolgen (Traceability).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DAS HERZSTÜCK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EARS — Anforderungen, die man testen kann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Anforderungen schreibt Kiro in einem festen Muster — </a:t>
            </a:r>
            <a:r>
              <a:rPr sz="1500" b="1" i="0">
                <a:solidFill>
                  <a:srgbClr val="2DD4BF"/>
                </a:solidFill>
                <a:latin typeface="Segoe UI"/>
              </a:rPr>
              <a:t>EARS</a:t>
            </a:r>
            <a:r>
              <a:rPr sz="1500" b="0" i="0">
                <a:solidFill>
                  <a:srgbClr val="EAEFF7"/>
                </a:solidFill>
                <a:latin typeface="Segoe UI"/>
              </a:rPr>
              <a:t>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6126480" cy="13716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557784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DD4BF"/>
                </a:solidFill>
                <a:latin typeface="Consolas"/>
              </a:rPr>
              <a:t>WHEN </a:t>
            </a:r>
            <a:r>
              <a:rPr sz="1900" b="0" i="0">
                <a:solidFill>
                  <a:srgbClr val="EAEFF7"/>
                </a:solidFill>
                <a:latin typeface="Consolas"/>
              </a:rPr>
              <a:t>[wenn das passiert]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BBF24"/>
                </a:solidFill>
                <a:latin typeface="Consolas"/>
              </a:rPr>
              <a:t>THE SYSTEM SHALL </a:t>
            </a:r>
            <a:r>
              <a:rPr sz="1900" b="0" i="0">
                <a:solidFill>
                  <a:srgbClr val="EAEFF7"/>
                </a:solidFill>
                <a:latin typeface="Consolas"/>
              </a:rPr>
              <a:t>[dann tut das System das]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286000"/>
            <a:ext cx="4480560" cy="1371600"/>
          </a:xfrm>
          <a:prstGeom prst="roundRect">
            <a:avLst/>
          </a:prstGeom>
          <a:solidFill>
            <a:srgbClr val="1E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468880"/>
            <a:ext cx="4069080" cy="1051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Beispiel (Schach):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AEFF7"/>
                </a:solidFill>
                <a:latin typeface="Consolas"/>
              </a:rPr>
              <a:t>WENN jemand einen verbotenen Zug macht,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AEFF7"/>
                </a:solidFill>
                <a:latin typeface="Consolas"/>
              </a:rPr>
              <a:t>SOLL DAS SYSTEM den Grund anzeigen.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3566160" cy="14173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062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🎯 Eindeutig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36592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kein „hab ich anders gemeint"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3977639"/>
            <a:ext cx="3566160" cy="14173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42062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🧪 Testbar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4736592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jede Regel wird zu einem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3024" y="3977639"/>
            <a:ext cx="3566160" cy="141732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42062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🔗 Verfolgbar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4736592"/>
            <a:ext cx="31089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Code ↔ Anforderung ↔ 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0A5FA"/>
                </a:solidFill>
                <a:latin typeface="Segoe UI"/>
              </a:rPr>
              <a:t>DER ABLAUF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Vom Satz zum fertigen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2084831" cy="21945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2084831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8B5CF6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54680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675887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„Bau ein Schach-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68496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Spiel mit FIDE-Regeln"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3154680"/>
            <a:ext cx="365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B5CF6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2286000"/>
            <a:ext cx="2084831" cy="21945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2286000"/>
            <a:ext cx="2084831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542032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DD4B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54680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675887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Kiro schreibt die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68496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3 Dateien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154680"/>
            <a:ext cx="365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DD4BF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2286000"/>
            <a:ext cx="2084831" cy="21945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02352" y="2286000"/>
            <a:ext cx="2084831" cy="10972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542032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0A5FA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154680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3675887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Mensch prüft &amp;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3968496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gibt frei (#spec)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154680"/>
            <a:ext cx="365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0064" y="2286000"/>
            <a:ext cx="2084831" cy="21945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70064" y="2286000"/>
            <a:ext cx="2084831" cy="10972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0064" y="2542032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818CF8"/>
                </a:solidFill>
                <a:latin typeface="Segoe U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0064" y="3154680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IMPLEMENT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3675887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Code — auch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3968496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parallel (Subagents)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3154680"/>
            <a:ext cx="3657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18CF8"/>
                </a:solidFill>
                <a:latin typeface="Segoe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37776" y="2286000"/>
            <a:ext cx="2084831" cy="21945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37776" y="2286000"/>
            <a:ext cx="2084831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37776" y="2542032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4D399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37776" y="3154680"/>
            <a:ext cx="2084831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VALIDATE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9216" y="3675887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Tests grün,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9216" y="3968496"/>
            <a:ext cx="1901951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CA8C4"/>
                </a:solidFill>
                <a:latin typeface="Segoe UI"/>
              </a:rPr>
              <a:t>Property-Tests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983480"/>
            <a:ext cx="108813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Segoe UI"/>
              </a:rPr>
              <a:t>⚡ Ergebnis: </a:t>
            </a:r>
            <a:r>
              <a:rPr sz="1500" b="0" i="0">
                <a:solidFill>
                  <a:srgbClr val="EAEFF7"/>
                </a:solidFill>
                <a:latin typeface="Segoe UI"/>
              </a:rPr>
              <a:t>Aus einer Idee wird ein nachvollziehbares, getestetes System — statt Code-Chaos.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18CF8"/>
                </a:solidFill>
                <a:latin typeface="Segoe UI"/>
              </a:rPr>
              <a:t>DIE SUPERKRÄFTE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Was Kiro besonders macht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91440" cy="20574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🪝 Agent Hooks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3288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„Immer wenn ich speichere, aktualisiere die Docs." Du beschreibst es, Kiro baut den Hook.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78308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783080"/>
            <a:ext cx="91440" cy="20574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198424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🧭 Steering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53288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Kiros Hausregeln: Stil &amp; Namens-Konventionen in .kiro/steering/ — alles bleibt einheitlich.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178308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1783080"/>
            <a:ext cx="91440" cy="20574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98424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🖼️ Multimodal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53288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Foto einer Whiteboard-Skizze hochladen → Kiro macht Architektur &amp; Code daraus.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91440" cy="2057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22452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🧩 MCP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77316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Verbindet externe Tools: GitHub, Docs, eigene CLI-Tools — über das Model Context Protocol.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16552" y="4023360"/>
            <a:ext cx="91440" cy="205740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584" y="422452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👥 Subagents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4" y="477316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Mehrere Aufgaben gleichzeitig: spezialisierte Agenten arbeiten parallel, jeder mit eigenem Kontext.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4023360"/>
            <a:ext cx="3355848" cy="205740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4" y="4023360"/>
            <a:ext cx="91440" cy="2057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4224528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🔐 Permissions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4773168"/>
            <a:ext cx="297180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CA8C4"/>
                </a:solidFill>
                <a:latin typeface="Segoe UI"/>
              </a:rPr>
              <a:t>IDE 1.0 (Juni 2026): du bestimmst genau, was die KI tun darf — Agent-Focus &amp; Custom Agents.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WICHTIG FÜRS PRÄSENTIEREN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Was 2026 neu 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837943"/>
            <a:ext cx="201168" cy="2011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2103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8B5CF6"/>
                </a:solidFill>
                <a:latin typeface="Segoe UI"/>
              </a:rPr>
              <a:t>Jul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783080"/>
            <a:ext cx="79552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AEFF7"/>
                </a:solidFill>
                <a:latin typeface="Segoe UI"/>
              </a:rPr>
              <a:t>Public Preview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" y="2093976"/>
            <a:ext cx="36576" cy="420624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587752"/>
            <a:ext cx="201168" cy="20116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32888"/>
            <a:ext cx="2103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34D399"/>
                </a:solidFill>
                <a:latin typeface="Segoe UI"/>
              </a:rPr>
              <a:t>17. Nov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32888"/>
            <a:ext cx="79552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AEFF7"/>
                </a:solidFill>
                <a:latin typeface="Segoe UI"/>
              </a:rPr>
              <a:t>Generally Available (GA) — kein Beta mehr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2843784"/>
            <a:ext cx="36576" cy="420624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337560"/>
            <a:ext cx="201168" cy="201168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282696"/>
            <a:ext cx="2103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60A5FA"/>
                </a:solidFill>
                <a:latin typeface="Segoe UI"/>
              </a:rPr>
              <a:t>Feb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82696"/>
            <a:ext cx="79552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AEFF7"/>
                </a:solidFill>
                <a:latin typeface="Segoe UI"/>
              </a:rPr>
              <a:t>Subagents, Skills &amp; Hooks · Okta / Microsoft Entra ID SSO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0976" y="3593591"/>
            <a:ext cx="36576" cy="420624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087368"/>
            <a:ext cx="201168" cy="20116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032504"/>
            <a:ext cx="2103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2DD4BF"/>
                </a:solidFill>
                <a:latin typeface="Segoe UI"/>
              </a:rPr>
              <a:t>Mai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032504"/>
            <a:ext cx="79552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AEFF7"/>
                </a:solidFill>
                <a:latin typeface="Segoe UI"/>
              </a:rPr>
              <a:t>Concurrent Spec-Tasks · Quick-Plan-Workflow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" y="4343400"/>
            <a:ext cx="36576" cy="420624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837176"/>
            <a:ext cx="201168" cy="201168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782312"/>
            <a:ext cx="21031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BBF24"/>
                </a:solidFill>
                <a:latin typeface="Segoe UI"/>
              </a:rPr>
              <a:t>25. Jun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782312"/>
            <a:ext cx="795527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EAEFF7"/>
                </a:solidFill>
                <a:latin typeface="Segoe UI"/>
              </a:rPr>
              <a:t>IDE 1.0 — Agent Focus, Permissions, Custom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50992"/>
            <a:ext cx="10881360" cy="64008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BBF24"/>
                </a:solidFill>
                <a:latin typeface="Segoe UI"/>
              </a:rPr>
              <a:t>Neu außerdem: </a:t>
            </a:r>
            <a:r>
              <a:rPr sz="1350" b="0" i="0">
                <a:solidFill>
                  <a:srgbClr val="EAEFF7"/>
                </a:solidFill>
                <a:latin typeface="Segoe UI"/>
              </a:rPr>
              <a:t>Kiro CLI (Terminal) · Kiro Web (app.kiro.dev) · Web-Suche im Chat · „Auto"-Modell-Agent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PREISE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Was kostet das? (Stand Juni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Kiro rechnet mit </a:t>
            </a:r>
            <a:r>
              <a:rPr sz="1500" b="1" i="0">
                <a:solidFill>
                  <a:srgbClr val="34D399"/>
                </a:solidFill>
                <a:latin typeface="Segoe UI"/>
              </a:rPr>
              <a:t>Credits</a:t>
            </a:r>
            <a:r>
              <a:rPr sz="1500" b="0" i="0">
                <a:solidFill>
                  <a:srgbClr val="EAEFF7"/>
                </a:solidFill>
                <a:latin typeface="Segoe UI"/>
              </a:rPr>
              <a:t> — 1 Credit = ein Stück Arbeit; einfache Prompts kosten weniger als 1 Credit.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0881360" cy="457200"/>
          </a:xfrm>
          <a:prstGeom prst="roundRect">
            <a:avLst/>
          </a:prstGeom>
          <a:solidFill>
            <a:srgbClr val="1E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86000"/>
            <a:ext cx="3657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CA8C4"/>
                </a:solidFill>
                <a:latin typeface="Segoe UI"/>
              </a:rPr>
              <a:t>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2651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CA8C4"/>
                </a:solidFill>
                <a:latin typeface="Segoe UI"/>
              </a:rPr>
              <a:t>Preis / Monat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3657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9CA8C4"/>
                </a:solidFill>
                <a:latin typeface="Segoe UI"/>
              </a:rPr>
              <a:t>Credits / Monat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10881360" cy="512064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61488"/>
            <a:ext cx="91440" cy="5120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61488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34D399"/>
                </a:solidFill>
                <a:latin typeface="Segoe UI"/>
              </a:rP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761488"/>
            <a:ext cx="24688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0 $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761488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37560"/>
            <a:ext cx="10881360" cy="512064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91440" cy="512064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37560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60A5FA"/>
                </a:solidFill>
                <a:latin typeface="Segoe UI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337560"/>
            <a:ext cx="24688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20 $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337560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1.000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13632"/>
            <a:ext cx="10881360" cy="512064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913632"/>
            <a:ext cx="91440" cy="512064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13632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818CF8"/>
                </a:solidFill>
                <a:latin typeface="Segoe UI"/>
              </a:rPr>
              <a:t>Pro+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913632"/>
            <a:ext cx="24688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40 $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913632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2.000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9704"/>
            <a:ext cx="10881360" cy="512064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89704"/>
            <a:ext cx="91440" cy="5120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489704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8B5CF6"/>
                </a:solidFill>
                <a:latin typeface="Segoe UI"/>
              </a:rPr>
              <a:t>Pro 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89704"/>
            <a:ext cx="24688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100 $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489704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5.000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065776"/>
            <a:ext cx="10881360" cy="512064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5065776"/>
            <a:ext cx="91440" cy="5120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065776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BBF24"/>
                </a:solidFill>
                <a:latin typeface="Segoe UI"/>
              </a:rPr>
              <a:t>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065776"/>
            <a:ext cx="246888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200 $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065776"/>
            <a:ext cx="3474720" cy="51206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AEFF7"/>
                </a:solidFill>
                <a:latin typeface="Segoe UI"/>
              </a:rPr>
              <a:t>10.000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4D399"/>
                </a:solidFill>
                <a:latin typeface="Segoe UI"/>
              </a:rPr>
              <a:t>👉 Zum Ausprobieren reicht </a:t>
            </a:r>
            <a:r>
              <a:rPr sz="1300" b="1" i="0">
                <a:solidFill>
                  <a:srgbClr val="34D399"/>
                </a:solidFill>
                <a:latin typeface="Segoe UI"/>
              </a:rPr>
              <a:t>Free</a:t>
            </a:r>
            <a:r>
              <a:rPr sz="1300" b="0" i="0">
                <a:solidFill>
                  <a:srgbClr val="9CA8C4"/>
                </a:solidFill>
                <a:latin typeface="Segoe UI"/>
              </a:rPr>
              <a:t> (Social-Login / AWS Builder ID — kein Kreditkarten-Konto nötig). Overage: $0,04 / Credit. Preise: kiro.dev/pricing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DD4BF"/>
                </a:solidFill>
                <a:latin typeface="Segoe UI"/>
              </a:rPr>
              <a:t>SELBST AUSPROBIEREN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In 5 Schritten loslegen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841248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841248" cy="84124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841248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020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892807"/>
            <a:ext cx="2743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783080"/>
            <a:ext cx="704088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8C4"/>
                </a:solidFill>
                <a:latin typeface="Segoe UI"/>
              </a:rPr>
              <a:t>kiro.dev — ein VS-Code-Fork, sieht vertraut aus.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15768"/>
            <a:ext cx="10881360" cy="841248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715768"/>
            <a:ext cx="841248" cy="841248"/>
          </a:xfrm>
          <a:prstGeom prst="round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15768"/>
            <a:ext cx="841248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020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25496"/>
            <a:ext cx="2743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Anmelden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715768"/>
            <a:ext cx="704088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8C4"/>
                </a:solidFill>
                <a:latin typeface="Segoe UI"/>
              </a:rPr>
              <a:t>Free-Plan via Social-Login. Kein Amazon-Konto nötig.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48456"/>
            <a:ext cx="10881360" cy="841248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48456"/>
            <a:ext cx="841248" cy="841248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48456"/>
            <a:ext cx="841248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020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758183"/>
            <a:ext cx="2743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Spec-Modus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648456"/>
            <a:ext cx="704088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8C4"/>
                </a:solidFill>
                <a:latin typeface="Segoe UI"/>
              </a:rPr>
              <a:t>Wunsch eintippen: „Build a to-do app with a checkbox per item."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81144"/>
            <a:ext cx="10881360" cy="841248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4581144"/>
            <a:ext cx="841248" cy="841248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81144"/>
            <a:ext cx="841248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020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690872"/>
            <a:ext cx="2743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Plan prüfen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581144"/>
            <a:ext cx="704088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8C4"/>
                </a:solidFill>
                <a:latin typeface="Segoe UI"/>
              </a:rPr>
              <a:t>requirements.md · design.md · tasks.md anschauen &amp; freigeben.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13831"/>
            <a:ext cx="10881360" cy="841248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" y="5513831"/>
            <a:ext cx="841248" cy="841248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513831"/>
            <a:ext cx="841248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020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5623559"/>
            <a:ext cx="27432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AEFF7"/>
                </a:solidFill>
                <a:latin typeface="Segoe UI"/>
              </a:rPr>
              <a:t>Implementieren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513831"/>
            <a:ext cx="704088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CA8C4"/>
                </a:solidFill>
                <a:latin typeface="Segoe UI"/>
              </a:rPr>
              <a:t>Kiro coden lassen — und zusehen, wie alles zur Spec passt.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72B6"/>
                </a:solidFill>
                <a:latin typeface="Segoe UI"/>
              </a:rPr>
              <a:t>VERGLEICH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AEFF7"/>
                </a:solidFill>
                <a:latin typeface="Segoe UI"/>
              </a:rPr>
              <a:t>Kiro vs. „normale" KI-Tools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371600" cy="4114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86868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AWS Kiro · Spec-Driven Development · Stand Juni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455664"/>
            <a:ext cx="224028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CA8C4"/>
                </a:solidFill>
                <a:latin typeface="Segoe UI"/>
              </a:rPr>
              <a:t>kiro.dev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783080"/>
            <a:ext cx="3246120" cy="4206240"/>
          </a:xfrm>
          <a:prstGeom prst="roundRect">
            <a:avLst/>
          </a:prstGeom>
          <a:solidFill>
            <a:srgbClr val="1E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783080"/>
            <a:ext cx="3429000" cy="420624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840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AEFF7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38528"/>
            <a:ext cx="32461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87171"/>
                </a:solidFill>
                <a:latin typeface="Segoe UI"/>
              </a:rPr>
              <a:t>Vibe Coding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38528"/>
            <a:ext cx="34290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4D399"/>
                </a:solidFill>
                <a:latin typeface="Segoe UI"/>
              </a:rPr>
              <a:t>Kiro (Spec-Driven)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97480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Reihenfolge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80"/>
            <a:ext cx="32461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Sofort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97480"/>
            <a:ext cx="34290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7"/>
                </a:solidFill>
                <a:latin typeface="Segoe UI"/>
              </a:rPr>
              <a:t>Erst Plan, dann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64408"/>
            <a:ext cx="10515600" cy="10972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83864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Nachvollziehbar?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483864"/>
            <a:ext cx="32461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Oft nicht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483864"/>
            <a:ext cx="34290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7"/>
                </a:solidFill>
                <a:latin typeface="Segoe UI"/>
              </a:rPr>
              <a:t>Ja — Zeile → Anforderung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050791"/>
            <a:ext cx="10515600" cy="10972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70248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Bei Änderungen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70248"/>
            <a:ext cx="32461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Bricht schnell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270248"/>
            <a:ext cx="34290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7"/>
                </a:solidFill>
                <a:latin typeface="Segoe UI"/>
              </a:rPr>
              <a:t>Plan passt sich mit 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37176"/>
            <a:ext cx="10515600" cy="10972"/>
          </a:xfrm>
          <a:prstGeom prst="rect">
            <a:avLst/>
          </a:prstGeom>
          <a:solidFill>
            <a:srgbClr val="2B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6632"/>
            <a:ext cx="36576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EAEFF7"/>
                </a:solidFill>
                <a:latin typeface="Segoe UI"/>
              </a:rPr>
              <a:t>Gut für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5056632"/>
            <a:ext cx="32461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CA8C4"/>
                </a:solidFill>
                <a:latin typeface="Segoe UI"/>
              </a:rPr>
              <a:t>Schnelle Experimente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056632"/>
            <a:ext cx="342900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EAEFF7"/>
                </a:solidFill>
                <a:latin typeface="Segoe UI"/>
              </a:rPr>
              <a:t>Echte, wartbare Projekte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EAEFF7"/>
                </a:solidFill>
                <a:latin typeface="Segoe UI"/>
              </a:rPr>
              <a:t>Das Take-away 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10561320" cy="1737360"/>
          </a:xfrm>
          <a:prstGeom prst="roundRect">
            <a:avLst/>
          </a:prstGeom>
          <a:solidFill>
            <a:srgbClr val="16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128016" cy="17373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880360"/>
            <a:ext cx="1005840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FBBF24"/>
                </a:solidFill>
                <a:latin typeface="Segoe UI"/>
              </a:rPr>
              <a:t>Kiro = „erst denken, dann coden".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EAEFF7"/>
                </a:solidFill>
                <a:latin typeface="Segoe UI"/>
              </a:rPr>
              <a:t>Aus einem Satz wird ein </a:t>
            </a:r>
            <a:r>
              <a:rPr sz="1700" b="1" i="0">
                <a:solidFill>
                  <a:srgbClr val="2DD4BF"/>
                </a:solidFill>
                <a:latin typeface="Segoe UI"/>
              </a:rPr>
              <a:t>Plan (Spec)</a:t>
            </a:r>
            <a:r>
              <a:rPr sz="1700" b="0" i="0">
                <a:solidFill>
                  <a:srgbClr val="EAEFF7"/>
                </a:solidFill>
                <a:latin typeface="Segoe UI"/>
              </a:rPr>
              <a:t>, aus dem Plan wird </a:t>
            </a:r>
            <a:r>
              <a:rPr sz="1700" b="1" i="0">
                <a:solidFill>
                  <a:srgbClr val="34D399"/>
                </a:solidFill>
                <a:latin typeface="Segoe UI"/>
              </a:rPr>
              <a:t>nachvollziehbarer Code.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9CA8C4"/>
                </a:solidFill>
                <a:latin typeface="Segoe UI"/>
              </a:rPr>
              <a:t>Das ist der Unterschied zwischen </a:t>
            </a:r>
            <a:r>
              <a:rPr sz="1600" b="1" i="0">
                <a:solidFill>
                  <a:srgbClr val="F87171"/>
                </a:solidFill>
                <a:latin typeface="Segoe UI"/>
              </a:rPr>
              <a:t>Raten</a:t>
            </a:r>
            <a:r>
              <a:rPr sz="1600" b="0" i="0">
                <a:solidFill>
                  <a:srgbClr val="9CA8C4"/>
                </a:solidFill>
                <a:latin typeface="Segoe UI"/>
              </a:rPr>
              <a:t> und </a:t>
            </a:r>
            <a:r>
              <a:rPr sz="1600" b="1" i="0">
                <a:solidFill>
                  <a:srgbClr val="EAEFF7"/>
                </a:solidFill>
                <a:latin typeface="Segoe UI"/>
              </a:rPr>
              <a:t>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106070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CA8C4"/>
                </a:solidFill>
                <a:latin typeface="Segoe UI"/>
              </a:rPr>
              <a:t>Mehr:  </a:t>
            </a:r>
            <a:r>
              <a:rPr sz="1500" b="1" i="0">
                <a:solidFill>
                  <a:srgbClr val="60A5FA"/>
                </a:solidFill>
                <a:latin typeface="Segoe UI"/>
              </a:rPr>
              <a:t>kiro.dev</a:t>
            </a:r>
            <a:r>
              <a:rPr sz="1500" b="0" i="0">
                <a:solidFill>
                  <a:srgbClr val="9CA8C4"/>
                </a:solidFill>
                <a:latin typeface="Segoe UI"/>
              </a:rPr>
              <a:t>   ·   </a:t>
            </a:r>
            <a:r>
              <a:rPr sz="1500" b="1" i="0">
                <a:solidFill>
                  <a:srgbClr val="60A5FA"/>
                </a:solidFill>
                <a:latin typeface="Segoe UI"/>
              </a:rPr>
              <a:t>kiro.dev/docs</a:t>
            </a:r>
            <a:r>
              <a:rPr sz="1500" b="0" i="0">
                <a:solidFill>
                  <a:srgbClr val="9CA8C4"/>
                </a:solidFill>
                <a:latin typeface="Segoe UI"/>
              </a:rPr>
              <a:t>   ·   </a:t>
            </a:r>
            <a:r>
              <a:rPr sz="1500" b="1" i="0">
                <a:solidFill>
                  <a:srgbClr val="60A5FA"/>
                </a:solidFill>
                <a:latin typeface="Segoe UI"/>
              </a:rPr>
              <a:t>kiro.dev/changelog/ide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AEFF7"/>
                </a:solidFill>
                <a:latin typeface="Segoe UI"/>
              </a:rPr>
              <a:t>Danke! Fragen? 🙋  </a:t>
            </a:r>
            <a:r>
              <a:rPr sz="1600" b="0" i="0">
                <a:solidFill>
                  <a:srgbClr val="9CA8C4"/>
                </a:solidFill>
                <a:latin typeface="Segoe UI"/>
              </a:rPr>
              <a:t>— probiert den Free-Plan aus und baut euer erstes 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